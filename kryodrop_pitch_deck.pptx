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828800"/>
            <a:ext cx="109728" cy="3200400"/>
          </a:xfrm>
          <a:prstGeom prst="rect">
            <a:avLst/>
          </a:prstGeom>
          <a:solidFill>
            <a:srgbClr val="29B6D8"/>
          </a:solidFill>
          <a:ln>
            <a:solidFill>
              <a:srgbClr val="29B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1737360"/>
            <a:ext cx="658368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6400" b="1">
                <a:solidFill>
                  <a:srgbClr val="FFFFFF"/>
                </a:solidFill>
                <a:latin typeface="Segoe UI"/>
              </a:defRPr>
            </a:pPr>
            <a:r>
              <a:t>KryoDrop</a:t>
            </a:r>
          </a:p>
          <a:p>
            <a:pPr>
              <a:spcBef>
                <a:spcPts val="800"/>
              </a:spcBef>
              <a:spcAft>
                <a:spcPts val="2000"/>
              </a:spcAft>
              <a:defRPr sz="2000" b="1">
                <a:solidFill>
                  <a:srgbClr val="29B6D8"/>
                </a:solidFill>
                <a:latin typeface="Segoe UI"/>
              </a:defRPr>
            </a:pPr>
            <a:r>
              <a:t>ThermaShift : Le stockage thermique intelligent pour l'agro-industrie</a:t>
            </a:r>
          </a:p>
          <a:p>
            <a:pPr>
              <a:defRPr sz="1400">
                <a:solidFill>
                  <a:srgbClr val="9CA3AF"/>
                </a:solidFill>
                <a:latin typeface="Segoe UI"/>
              </a:defRPr>
            </a:pPr>
            <a:r>
              <a:t>Solution brevetée de stockage thermique par matériau à changement de phase (MCP-TES) pour optimiser et décarboner les chambres froides industrielles.</a:t>
            </a:r>
          </a:p>
        </p:txBody>
      </p:sp>
      <p:pic>
        <p:nvPicPr>
          <p:cNvPr id="4" name="Picture 3" descr="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828800"/>
            <a:ext cx="2926080" cy="2926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80160" y="557784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29B6D8"/>
                </a:solidFill>
                <a:latin typeface="Segoe UI"/>
              </a:defRPr>
            </a:pPr>
            <a:r>
              <a:t>Greentech Challenge 2026  |  Pitch de Validation Industrielle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9B6D8"/>
                </a:solidFill>
                <a:latin typeface="Segoe UI"/>
              </a:defRPr>
            </a:pPr>
            <a:r>
              <a:t>LE CONTEXTE ET LE PROBLÈME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L'Explosion des Coûts &amp; la Vulnérabilité des Stocks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3108960"/>
          </a:xfrm>
          <a:prstGeom prst="roundRect">
            <a:avLst/>
          </a:prstGeom>
          <a:solidFill>
            <a:srgbClr val="101C30"/>
          </a:solidFill>
          <a:ln w="19050">
            <a:solidFill>
              <a:srgbClr val="1B2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0" y="1554480"/>
            <a:ext cx="7315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EF4444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2834640" cy="2651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29B6D8"/>
                </a:solidFill>
                <a:latin typeface="Segoe UI"/>
              </a:defRPr>
            </a:pPr>
            <a:r>
              <a:t>Factures Sonelgaz HP</a:t>
            </a:r>
          </a:p>
          <a:p>
            <a:pPr>
              <a:spcAft>
                <a:spcPts val="800"/>
              </a:spcAft>
              <a:defRPr sz="1050">
                <a:solidFill>
                  <a:srgbClr val="FFFFFF"/>
                </a:solidFill>
                <a:latin typeface="Segoe UI"/>
              </a:defRPr>
            </a:pPr>
            <a:r>
              <a:t>Les compresseurs frigorifiques tournent à plein régime en journée, subissant les tarifs électriques Heures Pleines (HP) x3.6 plus élevés qu'en Heures Creuses (HC).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291840" cy="3108960"/>
          </a:xfrm>
          <a:prstGeom prst="roundRect">
            <a:avLst/>
          </a:prstGeom>
          <a:solidFill>
            <a:srgbClr val="101C30"/>
          </a:solidFill>
          <a:ln w="19050">
            <a:solidFill>
              <a:srgbClr val="1B2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554480"/>
            <a:ext cx="7315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EF4444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1645920"/>
            <a:ext cx="2834640" cy="2651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29B6D8"/>
                </a:solidFill>
                <a:latin typeface="Segoe UI"/>
              </a:defRPr>
            </a:pPr>
            <a:r>
              <a:t>Vulnérabilité Réseau</a:t>
            </a:r>
          </a:p>
          <a:p>
            <a:pPr>
              <a:spcAft>
                <a:spcPts val="800"/>
              </a:spcAft>
              <a:defRPr sz="1050">
                <a:solidFill>
                  <a:srgbClr val="FFFFFF"/>
                </a:solidFill>
                <a:latin typeface="Segoe UI"/>
              </a:defRPr>
            </a:pPr>
            <a:r>
              <a:t>Les coupures de courant d'été et les délestages répétitifs provoquent une hausse immédiate de la température de la chambre froide, menaçant le stock.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63040"/>
            <a:ext cx="3291840" cy="3108960"/>
          </a:xfrm>
          <a:prstGeom prst="roundRect">
            <a:avLst/>
          </a:prstGeom>
          <a:solidFill>
            <a:srgbClr val="101C30"/>
          </a:solidFill>
          <a:ln w="19050">
            <a:solidFill>
              <a:srgbClr val="1B2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0" y="1554480"/>
            <a:ext cx="7315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EF4444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1645920"/>
            <a:ext cx="2834640" cy="2651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29B6D8"/>
                </a:solidFill>
                <a:latin typeface="Segoe UI"/>
              </a:defRPr>
            </a:pPr>
            <a:r>
              <a:t>Pertes de Marchandises</a:t>
            </a:r>
          </a:p>
          <a:p>
            <a:pPr>
              <a:spcAft>
                <a:spcPts val="800"/>
              </a:spcAft>
              <a:defRPr sz="1050">
                <a:solidFill>
                  <a:srgbClr val="FFFFFF"/>
                </a:solidFill>
                <a:latin typeface="Segoe UI"/>
              </a:defRPr>
            </a:pPr>
            <a:r>
              <a:t>Une seule rupture de chaîne de froid entraîne la perte sèche de denrées périssables de grande valeur. Risques sanitaires et financiers colossaux pour l'exploitant.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846320"/>
            <a:ext cx="3291840" cy="1463040"/>
          </a:xfrm>
          <a:prstGeom prst="roundRect">
            <a:avLst/>
          </a:prstGeom>
          <a:solidFill>
            <a:srgbClr val="101C30"/>
          </a:solidFill>
          <a:ln w="19050">
            <a:solidFill>
              <a:srgbClr val="1B2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029200"/>
            <a:ext cx="29260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4000" b="1">
                <a:solidFill>
                  <a:srgbClr val="EF4444"/>
                </a:solidFill>
                <a:latin typeface="Segoe UI"/>
              </a:defRPr>
            </a:pPr>
            <a:r>
              <a:t>+30 %</a:t>
            </a:r>
          </a:p>
          <a:p>
            <a:pPr algn="ctr">
              <a:spcBef>
                <a:spcPts val="400"/>
              </a:spcBef>
              <a:defRPr sz="1000" b="1">
                <a:solidFill>
                  <a:srgbClr val="FFFFFF"/>
                </a:solidFill>
                <a:latin typeface="Segoe UI"/>
              </a:defRPr>
            </a:pPr>
            <a:r>
              <a:t>Surcoût en Heures Pleines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4846320"/>
            <a:ext cx="3291840" cy="1463040"/>
          </a:xfrm>
          <a:prstGeom prst="roundRect">
            <a:avLst/>
          </a:prstGeom>
          <a:solidFill>
            <a:srgbClr val="101C30"/>
          </a:solidFill>
          <a:ln w="19050">
            <a:solidFill>
              <a:srgbClr val="1B2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5029200"/>
            <a:ext cx="29260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4000" b="1">
                <a:solidFill>
                  <a:srgbClr val="EF4444"/>
                </a:solidFill>
                <a:latin typeface="Segoe UI"/>
              </a:defRPr>
            </a:pPr>
            <a:r>
              <a:t>13 Heures</a:t>
            </a:r>
          </a:p>
          <a:p>
            <a:pPr algn="ctr">
              <a:spcBef>
                <a:spcPts val="400"/>
              </a:spcBef>
              <a:defRPr sz="1000" b="1">
                <a:solidFill>
                  <a:srgbClr val="FFFFFF"/>
                </a:solidFill>
                <a:latin typeface="Segoe UI"/>
              </a:defRPr>
            </a:pPr>
            <a:r>
              <a:t>Délestages d'été moyens supportés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4846320"/>
            <a:ext cx="3291840" cy="1463040"/>
          </a:xfrm>
          <a:prstGeom prst="roundRect">
            <a:avLst/>
          </a:prstGeom>
          <a:solidFill>
            <a:srgbClr val="101C30"/>
          </a:solidFill>
          <a:ln w="19050">
            <a:solidFill>
              <a:srgbClr val="1B2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5029200"/>
            <a:ext cx="29260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4000" b="1">
                <a:solidFill>
                  <a:srgbClr val="EF4444"/>
                </a:solidFill>
                <a:latin typeface="Segoe UI"/>
              </a:defRPr>
            </a:pPr>
            <a:r>
              <a:t>1.5M DA</a:t>
            </a:r>
          </a:p>
          <a:p>
            <a:pPr algn="ctr">
              <a:spcBef>
                <a:spcPts val="400"/>
              </a:spcBef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Perte par incident de délestage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9B6D8"/>
                </a:solidFill>
                <a:latin typeface="Segoe UI"/>
              </a:defRPr>
            </a:pPr>
            <a:r>
              <a:t>NOTRE PROPOSITION DE VALEUR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KryoDrop : Charger la Nuit, Libérer le Jour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669280" cy="4846320"/>
          </a:xfrm>
          <a:prstGeom prst="roundRect">
            <a:avLst/>
          </a:prstGeom>
          <a:solidFill>
            <a:srgbClr val="101C30"/>
          </a:solidFill>
          <a:ln w="19050">
            <a:solidFill>
              <a:srgbClr val="29B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512064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29B6D8"/>
                </a:solidFill>
                <a:latin typeface="Segoe UI"/>
              </a:defRPr>
            </a:pPr>
            <a:r>
              <a:t>Le Cycle de Fonctionnement Intelligent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• Stockage de Froid (Nuit) : Le compresseur fonctionne de nuit pendant les Heures Creuses (tarif réduit). Le COP nocturne est supérieur de 20% grâce à la fraîcheur de l'air extérieur, permettant une solidification du MCP (paraffine) à haute efficacité énergétique.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• Restitution Passive (Jour) : Le compresseur est éteint durant les Heures Pleines (8 à 12 heures). KryoDrop maintient la consigne thermique (+4°C / -18°C) par fusion contrôlée du MCP sans solliciter le compresseur.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• Effacement Actif de la pointe de consommation sur le réseau électrique Sonelgaz.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0" y="1463040"/>
            <a:ext cx="4663440" cy="2194560"/>
          </a:xfrm>
          <a:prstGeom prst="roundRect">
            <a:avLst/>
          </a:prstGeom>
          <a:solidFill>
            <a:srgbClr val="101C30"/>
          </a:solidFill>
          <a:ln w="19050">
            <a:solidFill>
              <a:srgbClr val="1B2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0" y="1645920"/>
            <a:ext cx="41148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9B6D8"/>
                </a:solidFill>
                <a:latin typeface="Segoe UI"/>
              </a:defRPr>
            </a:pPr>
            <a:r>
              <a:t>Arbitrage Énergétique Direct</a:t>
            </a:r>
          </a:p>
          <a:p>
            <a:pPr>
              <a:defRPr sz="1050">
                <a:solidFill>
                  <a:srgbClr val="FFFFFF"/>
                </a:solidFill>
                <a:latin typeface="Segoe UI"/>
              </a:defRPr>
            </a:pPr>
            <a:r>
              <a:t>Déplacement de 100% de la consommation de pointe vers les heures creuses nocturnes, permettant d'économiser sur les coûts de facture variables et fixes.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4114800"/>
            <a:ext cx="4663440" cy="2194560"/>
          </a:xfrm>
          <a:prstGeom prst="roundRect">
            <a:avLst/>
          </a:prstGeom>
          <a:solidFill>
            <a:srgbClr val="101C30"/>
          </a:solidFill>
          <a:ln w="19050">
            <a:solidFill>
              <a:srgbClr val="1B2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0" y="4297680"/>
            <a:ext cx="41148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9B6D8"/>
                </a:solidFill>
                <a:latin typeface="Segoe UI"/>
              </a:defRPr>
            </a:pPr>
            <a:r>
              <a:t>Sécurisation Active (13h)</a:t>
            </a:r>
          </a:p>
          <a:p>
            <a:pPr>
              <a:defRPr sz="1050">
                <a:solidFill>
                  <a:srgbClr val="FFFFFF"/>
                </a:solidFill>
                <a:latin typeface="Segoe UI"/>
              </a:defRPr>
            </a:pPr>
            <a:r>
              <a:t>En cas de délestage ou de panne, la batterie thermique prend le relais automatiquement pour maintenir le froid pendant plus de 13 heures, éliminant les pertes de marchandises.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66560" y="1463040"/>
            <a:ext cx="73152" cy="2194560"/>
          </a:xfrm>
          <a:prstGeom prst="rect">
            <a:avLst/>
          </a:prstGeom>
          <a:solidFill>
            <a:srgbClr val="29B6D8"/>
          </a:solidFill>
          <a:ln>
            <a:solidFill>
              <a:srgbClr val="29B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766560" y="4114800"/>
            <a:ext cx="73152" cy="2194560"/>
          </a:xfrm>
          <a:prstGeom prst="rect">
            <a:avLst/>
          </a:prstGeom>
          <a:solidFill>
            <a:srgbClr val="29B6D8"/>
          </a:solidFill>
          <a:ln>
            <a:solidFill>
              <a:srgbClr val="29B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9B6D8"/>
                </a:solidFill>
                <a:latin typeface="Segoe UI"/>
              </a:defRPr>
            </a:pPr>
            <a:r>
              <a:t>NOTRE FORCE TECHNOLOGIQUE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Le Jumeau Numérique de Co-Dimensionnement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4754880" cy="4754880"/>
          </a:xfrm>
          <a:prstGeom prst="roundRect">
            <a:avLst/>
          </a:prstGeom>
          <a:solidFill>
            <a:srgbClr val="101C30"/>
          </a:solidFill>
          <a:ln w="19050">
            <a:solidFill>
              <a:srgbClr val="1B2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420624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29B6D8"/>
                </a:solidFill>
                <a:latin typeface="Segoe UI"/>
              </a:defRPr>
            </a:pPr>
            <a:r>
              <a:t>Dimensionnement Sur-Mesure par Algorithme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• Modélisation Physique Rigoureuse : Notre simulateur Streamlit intègre les équations de transfert thermique transitoire à changement de phase (Stefan) et calcule la masse de MCP requise.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• Base Climatique Algérienne : Intégration des données réelles des 58 wilayas d'Algérie pour évaluer les charges d'infiltration d'air lors des ouvertures de porte.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• Sécurité Compresseur : Vérification de la faisabilité de la recharge nocturne par le compresseur existant.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• Nomenclature instantanée (BOM) et Ratios Financiers (VAN, TRI, Payback) calculés sur-mesure pour chaque client.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0" y="1463040"/>
            <a:ext cx="5577840" cy="4754880"/>
          </a:xfrm>
          <a:prstGeom prst="roundRect">
            <a:avLst/>
          </a:prstGeom>
          <a:solidFill>
            <a:srgbClr val="101C30"/>
          </a:solidFill>
          <a:ln w="19050">
            <a:solidFill>
              <a:srgbClr val="29B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89320" y="1874520"/>
            <a:ext cx="5303520" cy="3931920"/>
          </a:xfrm>
          <a:prstGeom prst="rect">
            <a:avLst/>
          </a:prstGeom>
          <a:solidFill>
            <a:srgbClr val="101C30"/>
          </a:solidFill>
          <a:ln w="19050">
            <a:solidFill>
              <a:srgbClr val="29B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treamlit_a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920240"/>
            <a:ext cx="52120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9B6D8"/>
                </a:solidFill>
                <a:latin typeface="Segoe UI"/>
              </a:defRPr>
            </a:pPr>
            <a:r>
              <a:t>INGÉNIERIE MATÉRIELLE &amp; DFM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Conception CAO &amp; Robustesse Mécanique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4754880" cy="4754880"/>
          </a:xfrm>
          <a:prstGeom prst="roundRect">
            <a:avLst/>
          </a:prstGeom>
          <a:solidFill>
            <a:srgbClr val="101C30"/>
          </a:solidFill>
          <a:ln w="19050">
            <a:solidFill>
              <a:srgbClr val="1B2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420624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29B6D8"/>
                </a:solidFill>
                <a:latin typeface="Segoe UI"/>
              </a:defRPr>
            </a:pPr>
            <a:r>
              <a:t>Un Design Optimisé pour la Fabrication (DFM)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• Caisson Modulaire &amp; Système Drop-In : Conçu pour s'installer rapidement au plafond des chambres froides industrielles, sans perturber la disposition du stock.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• Dégagement des Ailettes : Profil d'ailettes en étoile (8 externes, 8 internes, L=20mm, e=2mm) avec un entraxe de 50mm anti-givre pour maintenir le flux d'air.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• Puits Central de 46 mm : Passage libre sécurisé pour la buse de remplissage de paraffine.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• Isolation Galvanique EPDM : Manchons isolants placés aux points de contact pour éliminer la corrosion galvanique entre l'aluminium et le châssis en acier.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0" y="1463040"/>
            <a:ext cx="5577840" cy="4754880"/>
          </a:xfrm>
          <a:prstGeom prst="roundRect">
            <a:avLst/>
          </a:prstGeom>
          <a:solidFill>
            <a:srgbClr val="101C30"/>
          </a:solidFill>
          <a:ln w="19050">
            <a:solidFill>
              <a:srgbClr val="29B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89320" y="1874520"/>
            <a:ext cx="5303520" cy="3931920"/>
          </a:xfrm>
          <a:prstGeom prst="rect">
            <a:avLst/>
          </a:prstGeom>
          <a:solidFill>
            <a:srgbClr val="101C30"/>
          </a:solidFill>
          <a:ln w="19050">
            <a:solidFill>
              <a:srgbClr val="29B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apture d'écran 2026-07-08 1926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920240"/>
            <a:ext cx="52120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9B6D8"/>
                </a:solidFill>
                <a:latin typeface="Segoe UI"/>
              </a:defRPr>
            </a:pPr>
            <a:r>
              <a:t>INTELLIGENCE ÉLECTRIQUE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Contrôle-Commande &amp; Automatisation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01C30"/>
          </a:solidFill>
          <a:ln w="19050">
            <a:solidFill>
              <a:srgbClr val="1B2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457200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29B6D8"/>
                </a:solidFill>
                <a:latin typeface="Segoe UI"/>
              </a:defRPr>
            </a:pPr>
            <a:r>
              <a:t>Le Cerveau Électrique et Régulation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• Automate Industriel (PLC) : Régulation intelligente PID des flux thermiques. Basculement automatique entre les phases de charge nocturne et de décharge diurne.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• Interface IHM (Écran Tactile) : Supervision locale et affichage en temps réel de l'état de charge (SOC) de la batterie thermique et des températures MCP.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• Gestion de Secours Intégrée : En cas de coupure réseau, l'automate pilote le passage instantané de la ventilation sur l'onduleur de secours (UPS) pour continuer à diffuser le froid stocké.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• Protection Électrique : Coffret câblé selon les normes industrielles avec sectionneurs, relais thermiques et contacteurs de puissance.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01C30"/>
          </a:solidFill>
          <a:ln w="19050">
            <a:solidFill>
              <a:srgbClr val="1B2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675120" y="1828800"/>
            <a:ext cx="4297680" cy="1051560"/>
          </a:xfrm>
          <a:prstGeom prst="roundRect">
            <a:avLst/>
          </a:prstGeom>
          <a:solidFill>
            <a:srgbClr val="101C30"/>
          </a:solidFill>
          <a:ln w="19050">
            <a:solidFill>
              <a:srgbClr val="1B2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920240"/>
            <a:ext cx="39319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9B6D8"/>
                </a:solidFill>
                <a:latin typeface="Segoe UI"/>
              </a:defRPr>
            </a:pPr>
            <a:r>
              <a:t>1. Capteurs Thermiques (MCP &amp; Air)</a:t>
            </a:r>
          </a:p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Mesure en continu des températures du MCP et de l'air pour calculer l'état de charge (SOC).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3200400"/>
            <a:ext cx="4297680" cy="1051560"/>
          </a:xfrm>
          <a:prstGeom prst="roundRect">
            <a:avLst/>
          </a:prstGeom>
          <a:solidFill>
            <a:srgbClr val="1B365D"/>
          </a:solidFill>
          <a:ln w="19050">
            <a:solidFill>
              <a:srgbClr val="29B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3291840"/>
            <a:ext cx="39319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9B6D8"/>
                </a:solidFill>
                <a:latin typeface="Segoe UI"/>
              </a:defRPr>
            </a:pPr>
            <a:r>
              <a:t>2. Automate PLC &amp; Écran IHM</a:t>
            </a:r>
          </a:p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Traitement des données, régulation PID, gestion des vannes et interface de contrôle opérateur.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4572000"/>
            <a:ext cx="4297680" cy="1051560"/>
          </a:xfrm>
          <a:prstGeom prst="roundRect">
            <a:avLst/>
          </a:prstGeom>
          <a:solidFill>
            <a:srgbClr val="101C30"/>
          </a:solidFill>
          <a:ln w="19050">
            <a:solidFill>
              <a:srgbClr val="1B2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4663440"/>
            <a:ext cx="39319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9B6D8"/>
                </a:solidFill>
                <a:latin typeface="Segoe UI"/>
              </a:defRPr>
            </a:pPr>
            <a:r>
              <a:t>3. Ventilation &amp; Onduleur UPS</a:t>
            </a:r>
          </a:p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Activation de la soufflerie (60W-120W) secourue par UPS (LiFePO4 1.6 kWh) pendant 13 heures de délestage.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9B6D8"/>
                </a:solidFill>
                <a:latin typeface="Segoe UI"/>
              </a:defRPr>
            </a:pPr>
            <a:r>
              <a:t>BUSINESS MODEL &amp; 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Une Solution Rentable aux Amortissements Rapides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657600" cy="1463040"/>
          </a:xfrm>
          <a:prstGeom prst="roundRect">
            <a:avLst/>
          </a:prstGeom>
          <a:solidFill>
            <a:srgbClr val="101C30"/>
          </a:solidFill>
          <a:ln w="19050">
            <a:solidFill>
              <a:srgbClr val="1B2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291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4000" b="1">
                <a:solidFill>
                  <a:srgbClr val="22C55E"/>
                </a:solidFill>
                <a:latin typeface="Segoe UI"/>
              </a:defRPr>
            </a:pPr>
            <a:r>
              <a:t>&lt; 3 Ans</a:t>
            </a:r>
          </a:p>
          <a:p>
            <a:pPr algn="ctr">
              <a:spcBef>
                <a:spcPts val="400"/>
              </a:spcBef>
              <a:defRPr sz="1000" b="1">
                <a:solidFill>
                  <a:srgbClr val="FFFFFF"/>
                </a:solidFill>
                <a:latin typeface="Segoe UI"/>
              </a:defRPr>
            </a:pPr>
            <a:r>
              <a:t>Temps de Retour Simple (Payback)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08960"/>
            <a:ext cx="3657600" cy="1463040"/>
          </a:xfrm>
          <a:prstGeom prst="roundRect">
            <a:avLst/>
          </a:prstGeom>
          <a:solidFill>
            <a:srgbClr val="101C30"/>
          </a:solidFill>
          <a:ln w="19050">
            <a:solidFill>
              <a:srgbClr val="1B2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3291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4000" b="1">
                <a:solidFill>
                  <a:srgbClr val="22C55E"/>
                </a:solidFill>
                <a:latin typeface="Segoe UI"/>
              </a:defRPr>
            </a:pPr>
            <a:r>
              <a:t>&gt; 25 %</a:t>
            </a:r>
          </a:p>
          <a:p>
            <a:pPr algn="ctr">
              <a:spcBef>
                <a:spcPts val="400"/>
              </a:spcBef>
              <a:defRPr sz="1000" b="1">
                <a:solidFill>
                  <a:srgbClr val="FFFFFF"/>
                </a:solidFill>
                <a:latin typeface="Segoe UI"/>
              </a:defRPr>
            </a:pPr>
            <a:r>
              <a:t>Taux de Rentabilité Interne (TRI)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54880"/>
            <a:ext cx="3657600" cy="1463040"/>
          </a:xfrm>
          <a:prstGeom prst="roundRect">
            <a:avLst/>
          </a:prstGeom>
          <a:solidFill>
            <a:srgbClr val="101C30"/>
          </a:solidFill>
          <a:ln w="19050">
            <a:solidFill>
              <a:srgbClr val="1B2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937760"/>
            <a:ext cx="3291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4000" b="1">
                <a:solidFill>
                  <a:srgbClr val="22C55E"/>
                </a:solidFill>
                <a:latin typeface="Segoe UI"/>
              </a:defRPr>
            </a:pPr>
            <a:r>
              <a:t>VAN &gt; 0</a:t>
            </a:r>
          </a:p>
          <a:p>
            <a:pPr algn="ctr">
              <a:spcBef>
                <a:spcPts val="400"/>
              </a:spcBef>
              <a:defRPr sz="1000" b="1">
                <a:solidFill>
                  <a:srgbClr val="FFFFFF"/>
                </a:solidFill>
                <a:latin typeface="Segoe UI"/>
              </a:defRPr>
            </a:pPr>
            <a:r>
              <a:t>Valeur Actuelle Nette (Projet Rentable)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1463040"/>
            <a:ext cx="6675120" cy="4754880"/>
          </a:xfrm>
          <a:prstGeom prst="roundRect">
            <a:avLst/>
          </a:prstGeom>
          <a:solidFill>
            <a:srgbClr val="101C30"/>
          </a:solidFill>
          <a:ln w="19050">
            <a:solidFill>
              <a:srgbClr val="1B2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937760" y="1828800"/>
          <a:ext cx="630936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108960"/>
                <a:gridCol w="1554480"/>
              </a:tblGrid>
              <a:tr h="80467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Poste Économique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Détails Énergétiques &amp; Fonctionnels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Impact Budgétaire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Arbitrage Tarifaire</a:t>
                      </a:r>
                    </a:p>
                  </a:txBody>
                  <a:tcPr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9CA3AF"/>
                          </a:solidFill>
                          <a:latin typeface="Segoe UI"/>
                        </a:defRPr>
                      </a:pPr>
                      <a:r>
                        <a:t>Consommation déplacée Heures Pleines → Heures Creuses (Sonelgaz)</a:t>
                      </a:r>
                    </a:p>
                  </a:txBody>
                  <a:tcPr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2C55E"/>
                          </a:solidFill>
                          <a:latin typeface="Segoe UI"/>
                        </a:defRPr>
                      </a:pPr>
                      <a:r>
                        <a:t>Économie de 30% sur le kWh</a:t>
                      </a:r>
                    </a:p>
                  </a:txBody>
                  <a:tcPr>
                    <a:solidFill>
                      <a:srgbClr val="101C30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Prime de Puissance</a:t>
                      </a:r>
                    </a:p>
                  </a:txBody>
                  <a:tcPr>
                    <a:solidFill>
                      <a:srgbClr val="07132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9CA3AF"/>
                          </a:solidFill>
                          <a:latin typeface="Segoe UI"/>
                        </a:defRPr>
                      </a:pPr>
                      <a:r>
                        <a:t>Réduction de la puissance souscrite indexée sur le volume de la chambre</a:t>
                      </a:r>
                    </a:p>
                  </a:txBody>
                  <a:tcPr>
                    <a:solidFill>
                      <a:srgbClr val="07132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2C55E"/>
                          </a:solidFill>
                          <a:latin typeface="Segoe UI"/>
                        </a:defRPr>
                      </a:pPr>
                      <a:r>
                        <a:t>Gain annuel fixe</a:t>
                      </a:r>
                    </a:p>
                  </a:txBody>
                  <a:tcPr>
                    <a:solidFill>
                      <a:srgbClr val="071321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Protection Anti-Panne</a:t>
                      </a:r>
                    </a:p>
                  </a:txBody>
                  <a:tcPr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9CA3AF"/>
                          </a:solidFill>
                          <a:latin typeface="Segoe UI"/>
                        </a:defRPr>
                      </a:pPr>
                      <a:r>
                        <a:t>Sécurisation active du stock de marchandises face aux coupures</a:t>
                      </a:r>
                    </a:p>
                  </a:txBody>
                  <a:tcPr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2C55E"/>
                          </a:solidFill>
                          <a:latin typeface="Segoe UI"/>
                        </a:defRPr>
                      </a:pPr>
                      <a:r>
                        <a:t>Pertes de stock éliminées</a:t>
                      </a:r>
                    </a:p>
                  </a:txBody>
                  <a:tcPr>
                    <a:solidFill>
                      <a:srgbClr val="101C30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Payback &amp; Viabilité</a:t>
                      </a:r>
                    </a:p>
                  </a:txBody>
                  <a:tcPr>
                    <a:solidFill>
                      <a:srgbClr val="07132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9CA3AF"/>
                          </a:solidFill>
                          <a:latin typeface="Segoe UI"/>
                        </a:defRPr>
                      </a:pPr>
                      <a:r>
                        <a:t>Investissement amorti par les économies opérationnelles nettes</a:t>
                      </a:r>
                    </a:p>
                  </a:txBody>
                  <a:tcPr>
                    <a:solidFill>
                      <a:srgbClr val="07132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9B6D8"/>
                          </a:solidFill>
                          <a:latin typeface="Segoe UI"/>
                        </a:defRPr>
                      </a:pPr>
                      <a:r>
                        <a:t>Amortissement &lt; 3 ans</a:t>
                      </a:r>
                    </a:p>
                  </a:txBody>
                  <a:tcPr>
                    <a:solidFill>
                      <a:srgbClr val="07132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9B6D8"/>
                </a:solidFill>
                <a:latin typeface="Segoe UI"/>
              </a:defRPr>
            </a:pPr>
            <a:r>
              <a:t>SYNERGIE &amp; FORCE HUMAINE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Une Équipe Pluridisciplinaire Complète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01C30"/>
          </a:solidFill>
          <a:ln w="19050">
            <a:solidFill>
              <a:srgbClr val="1B2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457200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29B6D8"/>
                </a:solidFill>
                <a:latin typeface="Segoe UI"/>
              </a:defRPr>
            </a:pPr>
            <a:r>
              <a:t>Synergie ENPO-MA (Mécanique &amp; Énergétique)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• Modélisation Physique &amp; Thermique : Analyse transitoire du changement de phase solide-liquide (MCP), résolution des équations de conduction et convection forcée.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• Conception Mécanique CAO : Conception complète de l'échangeur, des profilés d'ailettes en étoile SolidWorks et de la structure de supportage suspendue.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• Résistance des Matériaux (RDM) : Validation de la tenue mécanique des suspentes M14, calculs de flexion (flèche médiane) des tubes de 2m, et analyses DFM de fabrication locale.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101C30"/>
          </a:solidFill>
          <a:ln w="19050">
            <a:solidFill>
              <a:srgbClr val="1B2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737360"/>
            <a:ext cx="457200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29B6D8"/>
                </a:solidFill>
                <a:latin typeface="Segoe UI"/>
              </a:defRPr>
            </a:pPr>
            <a:r>
              <a:t>Synergie ENPA (Électrotechnique &amp; Automatisme)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• Conception de l'Armoire Électrique : Câblage de puissance, schémas de protection et intégration des contacteurs compresseurs et de la soufflerie.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• Programmation Automate (PLC) : Écriture de la logique de régulation, gestion PID des vannes, et détection automatique des coupures de courant.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• Interface IHM &amp; Supervision : Conception de l'écran tactile pour le suivi des températures, de l'état de charge (SOC) et des historiques d'exploitation.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• Secours Électrique : Dimensionnement de l'UPS et du pack de batteries LiFePO4 de secours.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