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463040"/>
            <a:ext cx="109728" cy="393192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371600"/>
            <a:ext cx="65836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KryoDrop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2000" b="1">
                <a:solidFill>
                  <a:srgbClr val="29B6D8"/>
                </a:solidFill>
                <a:latin typeface="Segoe UI"/>
              </a:defRPr>
            </a:pPr>
            <a:r>
              <a:t>Le stockage thermique intelligent pour l'agro-industrie</a:t>
            </a:r>
          </a:p>
          <a:p>
            <a:pPr>
              <a:defRPr sz="1400">
                <a:solidFill>
                  <a:srgbClr val="9CA3AF"/>
                </a:solidFill>
                <a:latin typeface="Segoe UI"/>
              </a:defRPr>
            </a:pPr>
            <a:r>
              <a:t>Solution innovante de stockage thermique par matériau à changement de phase (MCP-TES) pour optimiser et décarboner les chambres froides industrielles.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114800"/>
            <a:ext cx="65836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9B6D8"/>
                </a:solidFill>
                <a:latin typeface="Segoe UI"/>
              </a:defRPr>
            </a:pPr>
            <a:r>
              <a:t>PROJET DÉVELOPPÉ PAR :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BOUIRA Islem Akram — Étudiant 5ème année mécanique (Systèmes Énergétiques) @ ENPO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ZANE Mohamed Elamine — Étudiant 4ème année électrotechnique @ ENPA</a:t>
            </a:r>
          </a:p>
        </p:txBody>
      </p: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5778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100">
                <a:solidFill>
                  <a:srgbClr val="29B6D8"/>
                </a:solidFill>
                <a:latin typeface="Segoe UI"/>
              </a:defRPr>
            </a:pPr>
            <a:r>
              <a:t>Greentech Challenge 2026  |  Pitch de Validation Industrielle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LE CONTEXTE ET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L'Explosion des Coûts &amp; la Vulnérabilité des Stocks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Factures Sonelgaz HP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compresseurs frigorifiques tournent à plein régime en journée, subissant les tarifs électriques Heures Pleines (HP) x3.6 plus élevés qu'en Heures Creuses (HC).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Vulnérabilité Réseau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coupures de courant d'été et les délestages répétitifs provoquent une hausse immédiate de la température de la chambre froide, menaçant le stock.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Pertes de Marchandises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Une seule rupture de chaîne de froid entraîne la perte sèche de denrées périssables de grande valeur. Risques sanitaires et financiers colossaux pour l'exploitant.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+30 %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Surcoût en Heures Pleines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13 Heures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Délestages d'été moyens supportés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1.5M DA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Perte par incident de délestage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PROPOSITION DE VALEUR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KryoDrop : Charger la Nuit, Restituer le Jour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669280" cy="484632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5120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Cycle de Fonctionnement Intelligent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Stockage de Froid (Nuit) : Le compresseur fonctionne de nuit pendant les Heures Creuses (tarif réduit). Le COP nocturne est supérieur de 20% grâce à la fraîcheur de l'air extérieur, permettant une solidification du MCP à haute efficacité énergétique.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Restitution Passive (Jour) : Le compresseur est éteint durant les Heures Pleines (8 à 12 heures). KryoDrop maintient la consigne thermique (+4°C / -18°C) par fusion contrôlée du MCP sans solliciter le compresseur.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Effacement Actif de la pointe de consommation sur le réseau électrique Sonelgaz.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46304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64592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Arbitrage Énergétique Direct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Déplacement de 100% de la consommation de pointe vers les heures creuses nocturnes, permettant d'économiser sur les coûts de facture variables et fixes.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411480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429768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Sécurisation Active (13h)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En cas de délestage ou de panne, la batterie thermique prend le relais automatiquement pour maintenir le froid pendant plus de 13 heures, éliminant les pertes de marchandises.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46304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66560" y="411480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FORCE TECHNOLOGIQUE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Le Jumeau Numérique de Co-Dimensionnement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20624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Dimensionnement Sur-Mesure par Algorithme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Modélisation Physique Rigoureuse : Notre simulateur Streamlit intègre les équations de transfert thermique transitoire à changement de phase (Stefan) et calcule la masse de MCP requise.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Base Climatique Algérienne : Intégration des données réelles des 58 wilayas d'Algérie pour évaluer les charges d'infiltration d'air lors des ouvertures de porte.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Sécurité Compresseur : Vérification de la faisabilité de la recharge nocturne par le compresseur existant.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Nomenclature instantanée (BOM) et Ratios Financiers (VAN, TRI, Payback) calculés sur-mesure pour chaque client.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5778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874520"/>
            <a:ext cx="5303520" cy="393192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reamli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20240"/>
            <a:ext cx="5212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INGÉNIERIE MATÉRIELLE &amp; DFM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Conception CAO &amp; Robustesse Mécanique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20624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Un Design Optimisé pour la Fabrication (DFM)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Caisson Modulaire &amp; Système Drop-In : Conçu pour s'installer rapidement au plafond des chambres froides industrielles, sans perturber la disposition du stock.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Dégagement des Ailettes : Profil d'ailettes en étoile (8 externes, 8 internes, L=20mm, e=2mm) avec un entraxe de 50mm anti-givre pour maintenir le flux d'air.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Puits Central de 46 mm : Passage libre sécurisé pour la buse de remplissage de paraffine.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Isolation Galvanique EPDM : Manchons isolants placés aux points de contact pour éliminer la corrosion galvanique entre l'aluminium et le châssis en acier.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5778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874520"/>
            <a:ext cx="5303520" cy="393192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pture d'écran 2026-07-08 192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20240"/>
            <a:ext cx="5212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INTELLIGENCE ÉLECTRIQUE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Contrôle-Commande &amp; Automatisation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Cerveau Électrique et Régulation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Automate Industriel (PLC) : Régulation intelligente PID des flux thermiques. Basculement automatique entre les phases de charge nocturne et de décharge diurne.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Interface IHM (Écran Tactile) : Supervision locale et affichage en temps réel de l'état de charge (SOC) de la batterie thermique et des températures MCP.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Gestion de Secours Intégrée : En cas de coupure réseau, l'automate pilote le passage instantané de la ventilation sur l'onduleur de secours (UPS) pour continuer à diffuser le froid stocké.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Protection Électrique : Coffret câblé selon les normes industrielles avec sectionneurs, relais thermiques et contacteurs de puissance.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0" y="1828800"/>
            <a:ext cx="4297680" cy="1051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200" b="1">
                <a:solidFill>
                  <a:srgbClr val="29B6D8"/>
                </a:solidFill>
                <a:latin typeface="Segoe UI"/>
              </a:defRPr>
            </a:pPr>
            <a:r>
              <a:t>1. Capteurs Thermiques (MCP &amp; Air)</a:t>
            </a:r>
          </a:p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Mesure en continu des températures du MCP et de l'air pour calculer l'état de charge (SOC).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200400"/>
            <a:ext cx="4297680" cy="1051560"/>
          </a:xfrm>
          <a:prstGeom prst="roundRect">
            <a:avLst/>
          </a:prstGeom>
          <a:solidFill>
            <a:srgbClr val="1B365D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32918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200" b="1">
                <a:solidFill>
                  <a:srgbClr val="29B6D8"/>
                </a:solidFill>
                <a:latin typeface="Segoe UI"/>
              </a:defRPr>
            </a:pPr>
            <a:r>
              <a:t>2. Automate PLC &amp; Écran IHM</a:t>
            </a:r>
          </a:p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Traitement des données, régulation PID, gestion des vannes et interface de contrôle opérateur.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572000"/>
            <a:ext cx="4297680" cy="1051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6634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200" b="1">
                <a:solidFill>
                  <a:srgbClr val="29B6D8"/>
                </a:solidFill>
                <a:latin typeface="Segoe UI"/>
              </a:defRPr>
            </a:pPr>
            <a:r>
              <a:t>3. Ventilation &amp; Onduleur UPS</a:t>
            </a:r>
          </a:p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Activation de la soufflerie (60W-120W) secourue par UPS (LiFePO4 1.6 kWh) pendant 13 heures de délestage.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BUSINESS MODEL &amp; ROI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Solution Rentable aux Amortissements Rapides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&lt; 3 Ans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Temps de Retour Simple (Payback)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&gt; 25 %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Taux de Rentabilité Interne (TRI)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VAN &gt; 0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Valeur Actuelle Nette (Projet Rentable)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463040"/>
            <a:ext cx="667512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1828800"/>
          <a:ext cx="6309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08960"/>
                <a:gridCol w="1554480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Poste Économique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Détails Énergétiques &amp; Fonctionnels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 Budgétaire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Arbitrage Tarifaire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Consommation déplacée Heures Pleines → Heures Creuses (Sonelgaz)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Économie de 30% sur le kWh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Prime de Puissance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Réduction de la puissance souscrite indexée sur le volume de la chambre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Gain annuel fixe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Protection Anti-Panne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Sécurisation active du stock de marchandises face aux coupures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Pertes de stock éliminées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Payback &amp; Viabilité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Investissement amorti par les économies opérationnelles nettes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9B6D8"/>
                          </a:solidFill>
                          <a:latin typeface="Segoe UI"/>
                        </a:defRPr>
                      </a:pPr>
                      <a:r>
                        <a:t>Amortissement &lt; 3 ans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SYNERGIE &amp; FORCE HUMAINE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Équipe Pluridisciplinaire Complète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BOUIRA Islem Akram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Étudiant en 5ème année mécanique (Système Énergétique) @ ENPO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Modélisation Physique &amp; Thermique : Analyse transitoire du changement de phase solide-liquide (MCP) et résolution des flux de chaleur.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Conception Mécanique CAO : Conception de l'échangeur de chaleur, modélisation des ailettes en étoile, et système d'ancrage modulaire.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Résistance des Matériaux (RDM) : Tenue mécanique des suspentes M14, flèche des cylindres et calculs DFM de fabrication locale.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ZANE Mohamed Elamine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Étudiant en 4ème année électrotechnique @ ENPA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Armoire Électrique &amp; Puissance : Conception du câblage de puissance, des relais thermiques et des sectionneurs de protection.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Automatisme PLC &amp; IHM : Écriture de la logique PID de régulation du basculement charge/décharge et interface de contrôle locale.</a:t>
            </a:r>
          </a:p>
          <a:p>
            <a:pPr algn="ctr"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Secours Électrique (UPS) : Dimensionnement et supervision du pack de batteries de secours LiFePO4 pour sécuriser la soufflerie en cas de panne.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