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11914632" cy="6583680"/>
          </a:xfrm>
          <a:prstGeom prst="rect">
            <a:avLst/>
          </a:prstGeom>
          <a:noFill/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463040"/>
            <a:ext cx="109728" cy="3931920"/>
          </a:xfrm>
          <a:prstGeom prst="rect">
            <a:avLst/>
          </a:prstGeom>
          <a:solidFill>
            <a:srgbClr val="29B6D8"/>
          </a:solidFill>
          <a:ln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1371600"/>
            <a:ext cx="6583680" cy="2560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6400" b="1">
                <a:solidFill>
                  <a:srgbClr val="FFFFFF"/>
                </a:solidFill>
                <a:latin typeface="Segoe UI"/>
              </a:defRPr>
            </a:pPr>
            <a:r>
              <a:t>KryoDrop</a:t>
            </a:r>
          </a:p>
          <a:p>
            <a:pPr>
              <a:spcBef>
                <a:spcPts val="800"/>
              </a:spcBef>
              <a:spcAft>
                <a:spcPts val="2000"/>
              </a:spcAft>
              <a:defRPr sz="2000" b="1">
                <a:solidFill>
                  <a:srgbClr val="29B6D8"/>
                </a:solidFill>
                <a:latin typeface="Segoe UI"/>
              </a:defRPr>
            </a:pPr>
            <a:r>
              <a:t>Le stockage thermique intelligent pour l'agro-industrie</a:t>
            </a:r>
          </a:p>
          <a:p>
            <a:pPr>
              <a:defRPr sz="1400">
                <a:solidFill>
                  <a:srgbClr val="9CA3AF"/>
                </a:solidFill>
                <a:latin typeface="Segoe UI"/>
              </a:defRPr>
            </a:pPr>
            <a:r>
              <a:t>Solution innovante de stockage thermique par matériau à changement de phase (MCP-TES) pour optimiser et décarboner les chambres froides industrielles.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4114800"/>
            <a:ext cx="6583680" cy="128016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Aft>
                <a:spcPts val="600"/>
              </a:spcAft>
              <a:defRPr sz="1300" b="1">
                <a:solidFill>
                  <a:srgbClr val="29B6D8"/>
                </a:solidFill>
                <a:latin typeface="Segoe UI"/>
              </a:defRPr>
            </a:pPr>
            <a:r>
              <a:t>PROJET DÉVELOPPÉ PAR :</a:t>
            </a:r>
          </a:p>
          <a:p>
            <a:pPr>
              <a:spcAft>
                <a:spcPts val="400"/>
              </a:spcAft>
              <a:defRPr sz="1200" b="1">
                <a:solidFill>
                  <a:srgbClr val="FFFFFF"/>
                </a:solidFill>
                <a:latin typeface="Segoe UI"/>
              </a:defRPr>
            </a:pPr>
            <a:r>
              <a:t>BOUIRA Islem Akram — Étudiant 5ème année mécanique (Systèmes Énergétiques) @ ENPO</a:t>
            </a:r>
          </a:p>
          <a:p>
            <a:pPr>
              <a:defRPr sz="1200" b="1">
                <a:solidFill>
                  <a:srgbClr val="FFFFFF"/>
                </a:solidFill>
                <a:latin typeface="Segoe UI"/>
              </a:defRPr>
            </a:pPr>
            <a:r>
              <a:t>ZANE Mohamed Elamine — Étudiant 4ème année électrotechnique @ ENPA</a:t>
            </a:r>
          </a:p>
        </p:txBody>
      </p:sp>
      <p:pic>
        <p:nvPicPr>
          <p:cNvPr id="6" name="Picture 5" descr="logo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12480" y="1828800"/>
            <a:ext cx="2926080" cy="292608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280160" y="5577840"/>
            <a:ext cx="9144000" cy="4572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>
              <a:defRPr sz="1100">
                <a:solidFill>
                  <a:srgbClr val="29B6D8"/>
                </a:solidFill>
                <a:latin typeface="Segoe UI"/>
              </a:defRPr>
            </a:pPr>
            <a:r>
              <a:t>Greentech Challenge 2026  |  Pitch de Validation Industrielle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11914632" cy="6583680"/>
          </a:xfrm>
          <a:prstGeom prst="rect">
            <a:avLst/>
          </a:prstGeom>
          <a:noFill/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LE CONTEXTE ET LE PROBLÈME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L'Explosion des Coûts &amp; la Vulnérabilité des Stocks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291840" cy="310896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0" y="1554480"/>
            <a:ext cx="7315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EF4444"/>
                </a:solidFill>
                <a:latin typeface="Segoe UI"/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645920"/>
            <a:ext cx="2834640" cy="2651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1200"/>
              </a:spcAft>
              <a:defRPr sz="1500" b="1">
                <a:solidFill>
                  <a:srgbClr val="29B6D8"/>
                </a:solidFill>
                <a:latin typeface="Segoe UI"/>
              </a:defRPr>
            </a:pPr>
            <a:r>
              <a:t>Factures Sonelgaz HP</a:t>
            </a:r>
          </a:p>
          <a:p>
            <a:pPr algn="ctr">
              <a:defRPr sz="1250">
                <a:solidFill>
                  <a:srgbClr val="FFFFFF"/>
                </a:solidFill>
                <a:latin typeface="Segoe UI"/>
              </a:defRPr>
            </a:pPr>
            <a:r>
              <a:t>Les compresseurs frigorifiques tournent à plein régime en journée, subissant les tarifs électriques Heures Pleines (HP) x3.6 plus élevés qu'en Heures Creuses (HC).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3291840" cy="310896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0" y="1554480"/>
            <a:ext cx="7315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EF4444"/>
                </a:solidFill>
                <a:latin typeface="Segoe UI"/>
              </a:defRPr>
            </a:pPr>
            <a: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645920"/>
            <a:ext cx="2834640" cy="2651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1200"/>
              </a:spcAft>
              <a:defRPr sz="1500" b="1">
                <a:solidFill>
                  <a:srgbClr val="29B6D8"/>
                </a:solidFill>
                <a:latin typeface="Segoe UI"/>
              </a:defRPr>
            </a:pPr>
            <a:r>
              <a:t>Vulnérabilité Réseau</a:t>
            </a:r>
          </a:p>
          <a:p>
            <a:pPr algn="ctr">
              <a:defRPr sz="1250">
                <a:solidFill>
                  <a:srgbClr val="FFFFFF"/>
                </a:solidFill>
                <a:latin typeface="Segoe UI"/>
              </a:defRPr>
            </a:pPr>
            <a:r>
              <a:t>Les coupures de courant d'été et les délestages répétitifs provoquent une hausse immédiate de la température de la chambre froide, menaçant le stock.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463040"/>
            <a:ext cx="3291840" cy="310896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1554480"/>
            <a:ext cx="731520" cy="4572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EF4444"/>
                </a:solidFill>
                <a:latin typeface="Segoe UI"/>
              </a:defRPr>
            </a:pPr>
            <a: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75320" y="1645920"/>
            <a:ext cx="2834640" cy="2651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1200"/>
              </a:spcAft>
              <a:defRPr sz="1500" b="1">
                <a:solidFill>
                  <a:srgbClr val="29B6D8"/>
                </a:solidFill>
                <a:latin typeface="Segoe UI"/>
              </a:defRPr>
            </a:pPr>
            <a:r>
              <a:t>Pertes de Marchandises</a:t>
            </a:r>
          </a:p>
          <a:p>
            <a:pPr algn="ctr">
              <a:defRPr sz="1250">
                <a:solidFill>
                  <a:srgbClr val="FFFFFF"/>
                </a:solidFill>
                <a:latin typeface="Segoe UI"/>
              </a:defRPr>
            </a:pPr>
            <a:r>
              <a:t>Une seule rupture de chaîne de froid entraîne la perte sèche de denrées périssables de grande valeur. Risques sanitaires et financiers colossaux pour l'exploitant.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846320"/>
            <a:ext cx="3291840" cy="146304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4846320"/>
            <a:ext cx="3291840" cy="73152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02920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4000" b="1">
                <a:solidFill>
                  <a:srgbClr val="EF4444"/>
                </a:solidFill>
                <a:latin typeface="Segoe UI"/>
              </a:defRPr>
            </a:pPr>
            <a:r>
              <a:t>+30 %</a:t>
            </a:r>
          </a:p>
          <a:p>
            <a:pPr algn="ctr">
              <a:spcBef>
                <a:spcPts val="400"/>
              </a:spcBef>
              <a:defRPr sz="1000" b="1">
                <a:solidFill>
                  <a:srgbClr val="FFFFFF"/>
                </a:solidFill>
                <a:latin typeface="Segoe UI"/>
              </a:defRPr>
            </a:pPr>
            <a:r>
              <a:t>Surcoût en Heures Pleines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89120" y="4846320"/>
            <a:ext cx="3291840" cy="146304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389120" y="4846320"/>
            <a:ext cx="3291840" cy="73152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0" y="502920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4000" b="1">
                <a:solidFill>
                  <a:srgbClr val="EF4444"/>
                </a:solidFill>
                <a:latin typeface="Segoe UI"/>
              </a:defRPr>
            </a:pPr>
            <a:r>
              <a:t>13 Heures</a:t>
            </a:r>
          </a:p>
          <a:p>
            <a:pPr algn="ctr">
              <a:spcBef>
                <a:spcPts val="400"/>
              </a:spcBef>
              <a:defRPr sz="1000" b="1">
                <a:solidFill>
                  <a:srgbClr val="FFFFFF"/>
                </a:solidFill>
                <a:latin typeface="Segoe UI"/>
              </a:defRPr>
            </a:pPr>
            <a:r>
              <a:t>Délestages d'été moyens supportés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4846320"/>
            <a:ext cx="3291840" cy="146304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8046720" y="4846320"/>
            <a:ext cx="3291840" cy="73152"/>
          </a:xfrm>
          <a:prstGeom prst="round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5029200"/>
            <a:ext cx="292608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4000" b="1">
                <a:solidFill>
                  <a:srgbClr val="EF4444"/>
                </a:solidFill>
                <a:latin typeface="Segoe UI"/>
              </a:defRPr>
            </a:pPr>
            <a:r>
              <a:t>1.5M DA</a:t>
            </a:r>
          </a:p>
          <a:p>
            <a:pPr algn="ctr">
              <a:spcBef>
                <a:spcPts val="400"/>
              </a:spcBef>
              <a:defRPr sz="1000" b="1">
                <a:solidFill>
                  <a:srgbClr val="FFFFFF"/>
                </a:solidFill>
                <a:latin typeface="Segoe UI"/>
              </a:defRPr>
            </a:pPr>
            <a:r>
              <a:t>Perte par incident de délestage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11914632" cy="6583680"/>
          </a:xfrm>
          <a:prstGeom prst="rect">
            <a:avLst/>
          </a:prstGeom>
          <a:noFill/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NOTRE PROPOSITION DE VALEUR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KryoDrop : Charger la Nuit, Restituer le Jour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669280" cy="484632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669280" cy="73152"/>
          </a:xfrm>
          <a:prstGeom prst="roundRect">
            <a:avLst/>
          </a:prstGeom>
          <a:solidFill>
            <a:srgbClr val="29B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5120640" cy="42976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  <a:defRPr sz="1700" b="1">
                <a:solidFill>
                  <a:srgbClr val="29B6D8"/>
                </a:solidFill>
                <a:latin typeface="Segoe UI"/>
              </a:defRPr>
            </a:pPr>
            <a:r>
              <a:t>Le Cycle de Fonctionnement Intelligent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Stockage de Froid (Nuit) : Le compresseur fonctionne de nuit pendant les Heures Creuses (tarif réduit). Le COP nocturne est supérieur de 20% grâce à la fraîcheur de l'air extérieur, permettant une solidification du MCP à haute efficacité énergétique.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Restitution Passive (Jour) : Le compresseur est éteint durant les Heures Pleines (8 à 12 heures). KryoDrop maintient la consigne thermique (+4°C / -18°C) par fusion contrôlée du MCP sans solliciter le compresseur.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Effacement Actif de la pointe de consommation sur le réseau électrique Sonelgaz.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0" y="1463040"/>
            <a:ext cx="4663440" cy="219456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040880" y="1645920"/>
            <a:ext cx="4114800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29B6D8"/>
                </a:solidFill>
                <a:latin typeface="Segoe UI"/>
              </a:defRPr>
            </a:pPr>
            <a:r>
              <a:t>Arbitrage Énergétique Direct</a:t>
            </a:r>
          </a:p>
          <a:p>
            <a:pPr algn="ctr">
              <a:defRPr sz="1250">
                <a:solidFill>
                  <a:srgbClr val="FFFFFF"/>
                </a:solidFill>
                <a:latin typeface="Segoe UI"/>
              </a:defRPr>
            </a:pPr>
            <a:r>
              <a:t>Déplacement de 100% de la consommation de pointe vers les heures creuses nocturnes, permettant d'économiser sur les coûts de facture variables et fixes.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766560" y="4114800"/>
            <a:ext cx="4663440" cy="219456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40880" y="4297680"/>
            <a:ext cx="4114800" cy="1828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800"/>
              </a:spcAft>
              <a:defRPr sz="1600" b="1">
                <a:solidFill>
                  <a:srgbClr val="29B6D8"/>
                </a:solidFill>
                <a:latin typeface="Segoe UI"/>
              </a:defRPr>
            </a:pPr>
            <a:r>
              <a:t>Sécurisation Active (13h)</a:t>
            </a:r>
          </a:p>
          <a:p>
            <a:pPr algn="ctr">
              <a:defRPr sz="1250">
                <a:solidFill>
                  <a:srgbClr val="FFFFFF"/>
                </a:solidFill>
                <a:latin typeface="Segoe UI"/>
              </a:defRPr>
            </a:pPr>
            <a:r>
              <a:t>En cas de délestage ou de panne, la batterie thermique prend le relais automatiquement pour maintenir le froid pendant plus de 13 heures, éliminant les pertes de marchandises.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1463040"/>
            <a:ext cx="73152" cy="2194560"/>
          </a:xfrm>
          <a:prstGeom prst="rect">
            <a:avLst/>
          </a:prstGeom>
          <a:solidFill>
            <a:srgbClr val="29B6D8"/>
          </a:solidFill>
          <a:ln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766560" y="4114800"/>
            <a:ext cx="73152" cy="2194560"/>
          </a:xfrm>
          <a:prstGeom prst="rect">
            <a:avLst/>
          </a:prstGeom>
          <a:solidFill>
            <a:srgbClr val="29B6D8"/>
          </a:solidFill>
          <a:ln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11914632" cy="6583680"/>
          </a:xfrm>
          <a:prstGeom prst="rect">
            <a:avLst/>
          </a:prstGeom>
          <a:noFill/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NOTRE FORCE TECHNOLOGIQUE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Le Jumeau Numérique de Co-Dimensionnement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65760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657600" cy="73152"/>
          </a:xfrm>
          <a:prstGeom prst="roundRect">
            <a:avLst/>
          </a:prstGeom>
          <a:solidFill>
            <a:srgbClr val="29B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310896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  <a:defRPr sz="1700" b="1">
                <a:solidFill>
                  <a:srgbClr val="29B6D8"/>
                </a:solidFill>
                <a:latin typeface="Segoe UI"/>
              </a:defRPr>
            </a:pPr>
            <a:r>
              <a:t>Dimensionnement Sur-Mesure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Modélisation Physique Rigoureuse : Notre simulateur Streamlit intègre les équations de transfert thermique transitoire à changement de phase (Stefan) et calcule la masse de MCP requise.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Base Climatique Algérienne : Intégration des données réelles des 58 wilayas d'Algérie pour évaluer les charges d'infiltration d'air lors des ouvertures de porte.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Sécurité Compresseur : Vérification de la faisabilité de la recharge nocturne par le compresseur existant.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Nomenclature instantanée (BOM) et Ratios Financiers (VAN, TRI, Payback) calculés sur-mesure pour chaque client.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722376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34840" y="1600200"/>
            <a:ext cx="7132320" cy="4480560"/>
          </a:xfrm>
          <a:prstGeom prst="rect">
            <a:avLst/>
          </a:prstGeom>
          <a:solidFill>
            <a:srgbClr val="101C30"/>
          </a:solidFill>
          <a:ln w="19050"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treamlit_ap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645920"/>
            <a:ext cx="70408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11914632" cy="6583680"/>
          </a:xfrm>
          <a:prstGeom prst="rect">
            <a:avLst/>
          </a:prstGeom>
          <a:noFill/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INGÉNIERIE MATÉRIELLE &amp; DFM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Conception CAO &amp; Robustesse Mécanique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65760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657600" cy="73152"/>
          </a:xfrm>
          <a:prstGeom prst="roundRect">
            <a:avLst/>
          </a:prstGeom>
          <a:solidFill>
            <a:srgbClr val="29B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310896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  <a:defRPr sz="1700" b="1">
                <a:solidFill>
                  <a:srgbClr val="29B6D8"/>
                </a:solidFill>
                <a:latin typeface="Segoe UI"/>
              </a:defRPr>
            </a:pPr>
            <a:r>
              <a:t>Design Optimisé (DFM)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Caisson Modulaire &amp; Système Drop-In : Conçu pour s'installer rapidement au plafond des chambres froides industrielles, sans perturber la disposition du stock.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Dégagement des Ailettes : Profil d'ailettes en étoile (8 externes, 8 internes, L=20mm, e=2mm) avec un entraxe de 50mm anti-givre pour maintenir le flux d'air.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Puits Central de 46 mm : Passage libre sécurisé pour la buse de remplissage de paraffine.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Isolation Galvanique EPDM : Manchons isolants placés aux points de contact pour éliminer la corrosion galvanique entre l'aluminium et le châssis en acier.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722376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34840" y="1600200"/>
            <a:ext cx="7132320" cy="4480560"/>
          </a:xfrm>
          <a:prstGeom prst="rect">
            <a:avLst/>
          </a:prstGeom>
          <a:solidFill>
            <a:srgbClr val="101C30"/>
          </a:solidFill>
          <a:ln w="19050"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apture d'écran 2026-07-08 19265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645920"/>
            <a:ext cx="70408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11914632" cy="6583680"/>
          </a:xfrm>
          <a:prstGeom prst="rect">
            <a:avLst/>
          </a:prstGeom>
          <a:noFill/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INTELLIGENCE ÉLECTRIQUE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Architecture Électrotechnique &amp; Instrumentation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73152"/>
          </a:xfrm>
          <a:prstGeom prst="roundRect">
            <a:avLst/>
          </a:prstGeom>
          <a:solidFill>
            <a:srgbClr val="29B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  <a:defRPr sz="1700" b="1">
                <a:solidFill>
                  <a:srgbClr val="29B6D8"/>
                </a:solidFill>
                <a:latin typeface="Segoe UI"/>
              </a:defRPr>
            </a:pPr>
            <a:r>
              <a:t>Le Cerveau Industriel Siemens S7-1200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Cas de Référence Soummam : Solution conçue pour décarboner la logistique froide (20 000 m³ de stockage, 110 chambres froides, 1 200 camions frigorifiques) en Algérie.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Technologie Scroll Optimale : Choix de compresseurs Scroll triphasés (1.5 à 3.5 kW) des marques de référence Bitzer, Copeland, Danfoss.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Instrumentation Terrain : Sondes de température PT100 (RTD classe A) pour le suivi de charge du MCP et analyseur de réseau sur le secteur principal.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Commande Centralisée : Automate Siemens S7-1200 avec cartes d'extension analogiques régulant l'ensemble par boucle de contrôle fermée.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1463040"/>
            <a:ext cx="521208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217920" y="1463040"/>
            <a:ext cx="5212080" cy="73152"/>
          </a:xfrm>
          <a:prstGeom prst="roundRect">
            <a:avLst/>
          </a:prstGeom>
          <a:solidFill>
            <a:srgbClr val="29B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1737360"/>
            <a:ext cx="466344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  <a:defRPr sz="1700" b="1">
                <a:solidFill>
                  <a:srgbClr val="29B6D8"/>
                </a:solidFill>
                <a:latin typeface="Segoe UI"/>
              </a:defRPr>
            </a:pPr>
            <a:r>
              <a:t>Bilan des Puissances &amp; Secours (UPS)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Ventilation Forcée Active : Soufflerie de 15W par module (ratio forfaitaire 2 ventilateurs/module de 2m, à valider en soufflerie/CFD).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Onduleur de Secours (UPS) : Dimensionnement d'un onduleur Line-Interactive de 1000 VA pour maintenir la ventilation active en cas de coupure de courant.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Technologie Batterie LiFePO4 : Pack de batteries lithium-fer-phosphate (48V / 25Ah ou 12V / 100Ah) supportant 80% de décharge profonde pour assurer 13h d'autonomie électrique.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Sécurité Maximale : Chimie LiFePO4 hautement stable thermiquement pour une installation sûre en local technique industriel.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11914632" cy="6583680"/>
          </a:xfrm>
          <a:prstGeom prst="rect">
            <a:avLst/>
          </a:prstGeom>
          <a:noFill/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SCHÉMA UNIFILAIRE INDUSTRIEL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Schéma Électrique de Principe (AutoCAD)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65760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657600" cy="73152"/>
          </a:xfrm>
          <a:prstGeom prst="roundRect">
            <a:avLst/>
          </a:prstGeom>
          <a:solidFill>
            <a:srgbClr val="29B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310896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  <a:defRPr sz="1700" b="1">
                <a:solidFill>
                  <a:srgbClr val="29B6D8"/>
                </a:solidFill>
                <a:latin typeface="Segoe UI"/>
              </a:defRPr>
            </a:pPr>
            <a:r>
              <a:t>Câblage Commande &amp; Puissance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Circuit de Puissance : Alimentation réseau triphasé 400V, disjoncteur moteur pour le compresseur Scroll, contacteur de ligne KM et disjoncteurs bipolaires pour les ventilateurs (220V).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Circuit de Commande : Alimentation 24V DC pour l'automate S7-1200, entrées analogiques pour PT100 et sorties digitales relayées pour le pilotage des contacteurs KM, KM1 (évaporateur) et KM2 (condenseur).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Protection Électrique : Coffret équipé de relais thermiques, de sectionneurs de protection et d'un bouton d'arrêt d'urgence direct.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Prêt pour Production : Plan unifilaire AutoCAD directement exploitable par les tableautiers et électriciens.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722376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34840" y="1600200"/>
            <a:ext cx="7132320" cy="4480560"/>
          </a:xfrm>
          <a:prstGeom prst="rect">
            <a:avLst/>
          </a:prstGeom>
          <a:solidFill>
            <a:srgbClr val="101C30"/>
          </a:solidFill>
          <a:ln w="19050"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autocad_schema_page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645920"/>
            <a:ext cx="70408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11914632" cy="6583680"/>
          </a:xfrm>
          <a:prstGeom prst="rect">
            <a:avLst/>
          </a:prstGeom>
          <a:noFill/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LOGIQUE DE COMMANDE / GRAFCET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Logique de Décision Smart-Grid (Grafcet Final)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463040"/>
            <a:ext cx="365760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48640" y="1463040"/>
            <a:ext cx="3657600" cy="73152"/>
          </a:xfrm>
          <a:prstGeom prst="roundRect">
            <a:avLst/>
          </a:prstGeom>
          <a:solidFill>
            <a:srgbClr val="29B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37360"/>
            <a:ext cx="310896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  <a:defRPr sz="1700" b="1">
                <a:solidFill>
                  <a:srgbClr val="29B6D8"/>
                </a:solidFill>
                <a:latin typeface="Segoe UI"/>
              </a:defRPr>
            </a:pPr>
            <a:r>
              <a:t>Algorithme à 4 États Opérationnels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Étape X0 (Veille) : Compresseur et ventilateur condenseur éteints (KM=0, KM2=0). Ventilateur évaporateur actif en continu (KM1=1) pour diffuser le froid du MCP.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Étape X1 (Charge Nocturne) : Compresseur, condenseur et évaporateur actifs (KM=1, KM1=1, KM2=1) pour solidifier le MCP sous tarif Heures Creuses.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Étape X2 (Délestage Réseau) : Coupure secteur détectée. Compresseur et condenseur OFF. Soufflerie secourue par l'onduleur UPS.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Étape X3 (Effacement Heures Pleines) : Compresseur éteint (KM=0) durant les tarifs de pointe. Restitution froide exclusive par fusion du MCP.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Priorité Réseau (T2) : La perte secteur interrompt instantanément n'importe quelle phase en cours pour protéger les équipements.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463040"/>
            <a:ext cx="722376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34840" y="1600200"/>
            <a:ext cx="7132320" cy="4480560"/>
          </a:xfrm>
          <a:prstGeom prst="rect">
            <a:avLst/>
          </a:prstGeom>
          <a:solidFill>
            <a:srgbClr val="101C30"/>
          </a:solidFill>
          <a:ln w="19050">
            <a:solidFill>
              <a:srgbClr val="29B6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grafcet_mcp_f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60" y="1645920"/>
            <a:ext cx="70408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11914632" cy="6583680"/>
          </a:xfrm>
          <a:prstGeom prst="rect">
            <a:avLst/>
          </a:prstGeom>
          <a:noFill/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BUSINESS MODEL &amp; ROI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Une Solution Rentable aux Amortissements Rapides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657600" cy="146304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3657600" cy="73152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32918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4000" b="1">
                <a:solidFill>
                  <a:srgbClr val="22C55E"/>
                </a:solidFill>
                <a:latin typeface="Segoe UI"/>
              </a:defRPr>
            </a:pPr>
            <a:r>
              <a:t>&lt; 3 Ans</a:t>
            </a:r>
          </a:p>
          <a:p>
            <a:pPr algn="ctr">
              <a:spcBef>
                <a:spcPts val="400"/>
              </a:spcBef>
              <a:defRPr sz="1000" b="1">
                <a:solidFill>
                  <a:srgbClr val="FFFFFF"/>
                </a:solidFill>
                <a:latin typeface="Segoe UI"/>
              </a:defRPr>
            </a:pPr>
            <a:r>
              <a:t>Temps de Retour Simple (Payback)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108960"/>
            <a:ext cx="3657600" cy="146304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31520" y="3108960"/>
            <a:ext cx="3657600" cy="73152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3291840"/>
            <a:ext cx="32918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4000" b="1">
                <a:solidFill>
                  <a:srgbClr val="22C55E"/>
                </a:solidFill>
                <a:latin typeface="Segoe UI"/>
              </a:defRPr>
            </a:pPr>
            <a:r>
              <a:t>&gt; 25 %</a:t>
            </a:r>
          </a:p>
          <a:p>
            <a:pPr algn="ctr">
              <a:spcBef>
                <a:spcPts val="400"/>
              </a:spcBef>
              <a:defRPr sz="1000" b="1">
                <a:solidFill>
                  <a:srgbClr val="FFFFFF"/>
                </a:solidFill>
                <a:latin typeface="Segoe UI"/>
              </a:defRPr>
            </a:pPr>
            <a:r>
              <a:t>Taux de Rentabilité Interne (TRI)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754880"/>
            <a:ext cx="3657600" cy="146304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31520" y="4754880"/>
            <a:ext cx="3657600" cy="73152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4937760"/>
            <a:ext cx="3291840" cy="10972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defRPr sz="4000" b="1">
                <a:solidFill>
                  <a:srgbClr val="22C55E"/>
                </a:solidFill>
                <a:latin typeface="Segoe UI"/>
              </a:defRPr>
            </a:pPr>
            <a:r>
              <a:t>VAN &gt; 0</a:t>
            </a:r>
          </a:p>
          <a:p>
            <a:pPr algn="ctr">
              <a:spcBef>
                <a:spcPts val="400"/>
              </a:spcBef>
              <a:defRPr sz="1000" b="1">
                <a:solidFill>
                  <a:srgbClr val="FFFFFF"/>
                </a:solidFill>
                <a:latin typeface="Segoe UI"/>
              </a:defRPr>
            </a:pPr>
            <a:r>
              <a:t>Valeur Actuelle Nette (Projet Rentable)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754880" y="1463040"/>
            <a:ext cx="667512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937760" y="1828800"/>
          <a:ext cx="6309360" cy="402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3108960"/>
                <a:gridCol w="1554480"/>
              </a:tblGrid>
              <a:tr h="804672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Poste Économique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Détails Énergétiques &amp; Fonctionnels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Impact Budgétaire</a:t>
                      </a:r>
                    </a:p>
                  </a:txBody>
                  <a:tcPr anchor="ctr">
                    <a:solidFill>
                      <a:srgbClr val="1B365D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Arbitrage Tarifaire</a:t>
                      </a:r>
                    </a:p>
                  </a:txBody>
                  <a:tcPr anchor="ctr">
                    <a:solidFill>
                      <a:srgbClr val="101C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9CA3AF"/>
                          </a:solidFill>
                          <a:latin typeface="Segoe UI"/>
                        </a:defRPr>
                      </a:pPr>
                      <a:r>
                        <a:t>Consommation déplacée Heures Pleines → Heures Creuses (Sonelgaz)</a:t>
                      </a:r>
                    </a:p>
                  </a:txBody>
                  <a:tcPr anchor="ctr">
                    <a:solidFill>
                      <a:srgbClr val="101C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2C55E"/>
                          </a:solidFill>
                          <a:latin typeface="Segoe UI"/>
                        </a:defRPr>
                      </a:pPr>
                      <a:r>
                        <a:t>Économie de 30% sur le kWh</a:t>
                      </a:r>
                    </a:p>
                  </a:txBody>
                  <a:tcPr anchor="ctr">
                    <a:solidFill>
                      <a:srgbClr val="101C30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Prime de Puissance</a:t>
                      </a:r>
                    </a:p>
                  </a:txBody>
                  <a:tcPr anchor="ctr">
                    <a:solidFill>
                      <a:srgbClr val="0713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9CA3AF"/>
                          </a:solidFill>
                          <a:latin typeface="Segoe UI"/>
                        </a:defRPr>
                      </a:pPr>
                      <a:r>
                        <a:t>Réduction de la puissance souscrite indexée sur le volume de la chambre</a:t>
                      </a:r>
                    </a:p>
                  </a:txBody>
                  <a:tcPr anchor="ctr">
                    <a:solidFill>
                      <a:srgbClr val="0713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2C55E"/>
                          </a:solidFill>
                          <a:latin typeface="Segoe UI"/>
                        </a:defRPr>
                      </a:pPr>
                      <a:r>
                        <a:t>Gain annuel fixe</a:t>
                      </a:r>
                    </a:p>
                  </a:txBody>
                  <a:tcPr anchor="ctr">
                    <a:solidFill>
                      <a:srgbClr val="071321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Protection Anti-Panne</a:t>
                      </a:r>
                    </a:p>
                  </a:txBody>
                  <a:tcPr anchor="ctr">
                    <a:solidFill>
                      <a:srgbClr val="101C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9CA3AF"/>
                          </a:solidFill>
                          <a:latin typeface="Segoe UI"/>
                        </a:defRPr>
                      </a:pPr>
                      <a:r>
                        <a:t>Sécurisation active du stock de marchandises face aux coupures</a:t>
                      </a:r>
                    </a:p>
                  </a:txBody>
                  <a:tcPr anchor="ctr">
                    <a:solidFill>
                      <a:srgbClr val="101C30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22C55E"/>
                          </a:solidFill>
                          <a:latin typeface="Segoe UI"/>
                        </a:defRPr>
                      </a:pPr>
                      <a:r>
                        <a:t>Pertes de stock éliminées</a:t>
                      </a:r>
                    </a:p>
                  </a:txBody>
                  <a:tcPr anchor="ctr">
                    <a:solidFill>
                      <a:srgbClr val="101C30"/>
                    </a:solidFill>
                  </a:tcPr>
                </a:tc>
              </a:tr>
              <a:tr h="804672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  <a:latin typeface="Segoe UI"/>
                        </a:defRPr>
                      </a:pPr>
                      <a:r>
                        <a:t>Payback &amp; Viabilité</a:t>
                      </a:r>
                    </a:p>
                  </a:txBody>
                  <a:tcPr anchor="ctr">
                    <a:solidFill>
                      <a:srgbClr val="0713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0">
                          <a:solidFill>
                            <a:srgbClr val="9CA3AF"/>
                          </a:solidFill>
                          <a:latin typeface="Segoe UI"/>
                        </a:defRPr>
                      </a:pPr>
                      <a:r>
                        <a:t>Investissement amorti par les économies opérationnelles nettes</a:t>
                      </a:r>
                    </a:p>
                  </a:txBody>
                  <a:tcPr anchor="ctr">
                    <a:solidFill>
                      <a:srgbClr val="07132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50" b="1">
                          <a:solidFill>
                            <a:srgbClr val="29B6D8"/>
                          </a:solidFill>
                          <a:latin typeface="Segoe UI"/>
                        </a:defRPr>
                      </a:pPr>
                      <a:r>
                        <a:t>Amortissement &lt; 3 ans</a:t>
                      </a:r>
                    </a:p>
                  </a:txBody>
                  <a:tcPr anchor="ctr">
                    <a:solidFill>
                      <a:srgbClr val="07132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32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37160" y="137160"/>
            <a:ext cx="11914632" cy="6583680"/>
          </a:xfrm>
          <a:prstGeom prst="rect">
            <a:avLst/>
          </a:prstGeom>
          <a:noFill/>
          <a:ln w="19050">
            <a:solidFill>
              <a:srgbClr val="1E293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2743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000" b="1">
                <a:solidFill>
                  <a:srgbClr val="29B6D8"/>
                </a:solidFill>
                <a:latin typeface="Segoe UI"/>
              </a:defRPr>
            </a:pPr>
            <a:r>
              <a:t>SYNERGIE &amp; FORCE HUMAINE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94360"/>
            <a:ext cx="10698480" cy="731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Une Équipe Pluridisciplinaire Complète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12064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731520" y="1463040"/>
            <a:ext cx="5120640" cy="73152"/>
          </a:xfrm>
          <a:prstGeom prst="roundRect">
            <a:avLst/>
          </a:prstGeom>
          <a:solidFill>
            <a:srgbClr val="29B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737360"/>
            <a:ext cx="457200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  <a:defRPr sz="1700" b="1">
                <a:solidFill>
                  <a:srgbClr val="29B6D8"/>
                </a:solidFill>
                <a:latin typeface="Segoe UI"/>
              </a:defRPr>
            </a:pPr>
            <a:r>
              <a:t>BOUIRA Islem Akram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Étudiant en 5ème année mécanique (Système Énergétique) @ ENPO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Modélisation Physique &amp; Thermique : Analyse transitoire du changement de phase solide-liquide (MCP) et résolution des flux de chaleur.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Conception Mécanique CAO : Conception de l'échangeur de chaleur, modélisation des ailettes en étoile, et système d'ancrage modulaire.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Résistance des Matériaux (RDM) : Tenue mécanique des suspentes M14, flèche des cylindres et calculs DFM de fabrication locale.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1463040"/>
            <a:ext cx="5120640" cy="4754880"/>
          </a:xfrm>
          <a:prstGeom prst="roundRect">
            <a:avLst/>
          </a:prstGeom>
          <a:solidFill>
            <a:srgbClr val="101C30"/>
          </a:solidFill>
          <a:ln w="19050">
            <a:solidFill>
              <a:srgbClr val="1B2C4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09360" y="1463040"/>
            <a:ext cx="5120640" cy="73152"/>
          </a:xfrm>
          <a:prstGeom prst="roundRect">
            <a:avLst/>
          </a:prstGeom>
          <a:solidFill>
            <a:srgbClr val="29B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83680" y="1737360"/>
            <a:ext cx="457200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spcAft>
                <a:spcPts val="1000"/>
              </a:spcAft>
              <a:defRPr sz="1700" b="1">
                <a:solidFill>
                  <a:srgbClr val="29B6D8"/>
                </a:solidFill>
                <a:latin typeface="Segoe UI"/>
              </a:defRPr>
            </a:pPr>
            <a:r>
              <a:t>ZANE Mohamed Elamine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Étudiant en 4ème année électrotechnique @ ENPA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Armoire Électrique &amp; Puissance : Conception du câblage de puissance, des relais thermiques et des sectionneurs de protection.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Automatisme PLC &amp; IHM : Écriture de la logique PID de régulation du basculement charge/décharge et interface de contrôle locale.</a:t>
            </a:r>
          </a:p>
          <a:p>
            <a:pPr algn="ctr">
              <a:spcAft>
                <a:spcPts val="800"/>
              </a:spcAft>
              <a:defRPr sz="1150">
                <a:solidFill>
                  <a:srgbClr val="FFFFFF"/>
                </a:solidFill>
                <a:latin typeface="Segoe UI"/>
              </a:defRPr>
            </a:pPr>
            <a:r>
              <a:t>• Secours Électrique (UPS) : Dimensionnement et supervision du pack de batteries de secours LiFePO4 pour sécuriser la soufflerie en cas de panne.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